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lvetica World Bold" charset="1" panose="020B0800040000020004"/>
      <p:regular r:id="rId16"/>
    </p:embeddedFont>
    <p:embeddedFont>
      <p:font typeface="Open Sauce" charset="1" panose="00000500000000000000"/>
      <p:regular r:id="rId17"/>
    </p:embeddedFont>
    <p:embeddedFont>
      <p:font typeface="Open Sauce Italics" charset="1" panose="00000500000000000000"/>
      <p:regular r:id="rId18"/>
    </p:embeddedFont>
    <p:embeddedFont>
      <p:font typeface="Helvetica World Bold Italics" charset="1" panose="020B0800040000090004"/>
      <p:regular r:id="rId19"/>
    </p:embeddedFont>
    <p:embeddedFont>
      <p:font typeface="Open Sauce Bold Italics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https://www.jmlr.org/history.html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3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5878" y="1309415"/>
            <a:ext cx="933795" cy="904933"/>
          </a:xfrm>
          <a:custGeom>
            <a:avLst/>
            <a:gdLst/>
            <a:ahLst/>
            <a:cxnLst/>
            <a:rect r="r" b="b" t="t" l="l"/>
            <a:pathLst>
              <a:path h="904933" w="933795">
                <a:moveTo>
                  <a:pt x="0" y="0"/>
                </a:moveTo>
                <a:lnTo>
                  <a:pt x="933795" y="0"/>
                </a:lnTo>
                <a:lnTo>
                  <a:pt x="933795" y="904933"/>
                </a:lnTo>
                <a:lnTo>
                  <a:pt x="0" y="90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59673" y="1236678"/>
            <a:ext cx="8185947" cy="281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9"/>
              </a:lnSpc>
              <a:spcBef>
                <a:spcPct val="0"/>
              </a:spcBef>
            </a:pPr>
            <a:r>
              <a:rPr lang="en-US" b="true" sz="15271" spc="-1343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Abstracts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739310" y="4788711"/>
            <a:ext cx="9300502" cy="565457"/>
            <a:chOff x="0" y="0"/>
            <a:chExt cx="2155970" cy="131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5970" cy="131080"/>
            </a:xfrm>
            <a:custGeom>
              <a:avLst/>
              <a:gdLst/>
              <a:ahLst/>
              <a:cxnLst/>
              <a:rect r="r" b="b" t="t" l="l"/>
              <a:pathLst>
                <a:path h="131080" w="2155970">
                  <a:moveTo>
                    <a:pt x="0" y="0"/>
                  </a:moveTo>
                  <a:lnTo>
                    <a:pt x="2155970" y="0"/>
                  </a:lnTo>
                  <a:lnTo>
                    <a:pt x="2155970" y="131080"/>
                  </a:lnTo>
                  <a:lnTo>
                    <a:pt x="0" y="131080"/>
                  </a:lnTo>
                  <a:close/>
                </a:path>
              </a:pathLst>
            </a:custGeom>
            <a:gradFill rotWithShape="true">
              <a:gsLst>
                <a:gs pos="0">
                  <a:srgbClr val="DDDDDD">
                    <a:alpha val="100000"/>
                  </a:srgbClr>
                </a:gs>
                <a:gs pos="100000">
                  <a:srgbClr val="DDDDD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55970" cy="159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715977" y="4810389"/>
            <a:ext cx="54109" cy="543780"/>
            <a:chOff x="0" y="0"/>
            <a:chExt cx="12543" cy="1260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43" cy="126055"/>
            </a:xfrm>
            <a:custGeom>
              <a:avLst/>
              <a:gdLst/>
              <a:ahLst/>
              <a:cxnLst/>
              <a:rect r="r" b="b" t="t" l="l"/>
              <a:pathLst>
                <a:path h="126055" w="12543">
                  <a:moveTo>
                    <a:pt x="0" y="0"/>
                  </a:moveTo>
                  <a:lnTo>
                    <a:pt x="12543" y="0"/>
                  </a:lnTo>
                  <a:lnTo>
                    <a:pt x="12543" y="126055"/>
                  </a:lnTo>
                  <a:lnTo>
                    <a:pt x="0" y="126055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543" cy="15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164862" y="8724299"/>
            <a:ext cx="520753" cy="520753"/>
          </a:xfrm>
          <a:custGeom>
            <a:avLst/>
            <a:gdLst/>
            <a:ahLst/>
            <a:cxnLst/>
            <a:rect r="r" b="b" t="t" l="l"/>
            <a:pathLst>
              <a:path h="520753" w="520753">
                <a:moveTo>
                  <a:pt x="0" y="0"/>
                </a:moveTo>
                <a:lnTo>
                  <a:pt x="520753" y="0"/>
                </a:lnTo>
                <a:lnTo>
                  <a:pt x="520753" y="520754"/>
                </a:lnTo>
                <a:lnTo>
                  <a:pt x="0" y="520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22925" y="1938123"/>
            <a:ext cx="3834422" cy="2726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40"/>
              </a:lnSpc>
              <a:spcBef>
                <a:spcPct val="0"/>
              </a:spcBef>
            </a:pPr>
            <a:r>
              <a:rPr lang="en-US" b="true" sz="14743" spc="-1002">
                <a:solidFill>
                  <a:srgbClr val="8B1E1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Lie?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99069" y="8657624"/>
            <a:ext cx="3460231" cy="600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33"/>
              </a:lnSpc>
              <a:spcBef>
                <a:spcPct val="0"/>
              </a:spcBef>
            </a:pPr>
            <a:r>
              <a:rPr lang="en-US" sz="3523" spc="-70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Orazov Temirlan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77470" y="4787001"/>
            <a:ext cx="12953845" cy="502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  <a:spcBef>
                <a:spcPct val="0"/>
              </a:spcBef>
            </a:pPr>
            <a:r>
              <a:rPr lang="en-US" sz="2880" i="true" spc="-144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Me</a:t>
            </a:r>
            <a:r>
              <a:rPr lang="en-US" sz="2880" i="true" spc="-144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asuring Thematic Alignment Between Journal Scope and Article Abstracts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1702" y="6010789"/>
            <a:ext cx="8620411" cy="3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  <a:spcBef>
                <a:spcPct val="0"/>
              </a:spcBef>
            </a:pPr>
            <a:r>
              <a:rPr lang="en-US" sz="2329" i="true" spc="-46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Case study: Jou</a:t>
            </a:r>
            <a:r>
              <a:rPr lang="en-US" sz="2329" i="true" spc="-46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rnal of Machine Learning Research (JMLR)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7547" y="556937"/>
            <a:ext cx="973620" cy="943526"/>
          </a:xfrm>
          <a:custGeom>
            <a:avLst/>
            <a:gdLst/>
            <a:ahLst/>
            <a:cxnLst/>
            <a:rect r="r" b="b" t="t" l="l"/>
            <a:pathLst>
              <a:path h="943526" w="973620">
                <a:moveTo>
                  <a:pt x="0" y="0"/>
                </a:moveTo>
                <a:lnTo>
                  <a:pt x="973620" y="0"/>
                </a:lnTo>
                <a:lnTo>
                  <a:pt x="973620" y="943526"/>
                </a:lnTo>
                <a:lnTo>
                  <a:pt x="0" y="943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5041830" y="7040830"/>
            <a:ext cx="1240790" cy="5251551"/>
            <a:chOff x="0" y="0"/>
            <a:chExt cx="326792" cy="13831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6792" cy="1383125"/>
            </a:xfrm>
            <a:custGeom>
              <a:avLst/>
              <a:gdLst/>
              <a:ahLst/>
              <a:cxnLst/>
              <a:rect r="r" b="b" t="t" l="l"/>
              <a:pathLst>
                <a:path h="1383125" w="326792">
                  <a:moveTo>
                    <a:pt x="0" y="0"/>
                  </a:moveTo>
                  <a:lnTo>
                    <a:pt x="326792" y="0"/>
                  </a:lnTo>
                  <a:lnTo>
                    <a:pt x="326792" y="1383125"/>
                  </a:lnTo>
                  <a:lnTo>
                    <a:pt x="0" y="1383125"/>
                  </a:lnTo>
                  <a:close/>
                </a:path>
              </a:pathLst>
            </a:custGeom>
            <a:gradFill rotWithShape="true">
              <a:gsLst>
                <a:gs pos="0">
                  <a:srgbClr val="DDDDDD">
                    <a:alpha val="100000"/>
                  </a:srgbClr>
                </a:gs>
                <a:gs pos="100000">
                  <a:srgbClr val="DDDDD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26792" cy="141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5041830" y="-2005381"/>
            <a:ext cx="1240790" cy="5251551"/>
            <a:chOff x="0" y="0"/>
            <a:chExt cx="326792" cy="13831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792" cy="1383125"/>
            </a:xfrm>
            <a:custGeom>
              <a:avLst/>
              <a:gdLst/>
              <a:ahLst/>
              <a:cxnLst/>
              <a:rect r="r" b="b" t="t" l="l"/>
              <a:pathLst>
                <a:path h="1383125" w="326792">
                  <a:moveTo>
                    <a:pt x="0" y="0"/>
                  </a:moveTo>
                  <a:lnTo>
                    <a:pt x="326792" y="0"/>
                  </a:lnTo>
                  <a:lnTo>
                    <a:pt x="326792" y="1383125"/>
                  </a:lnTo>
                  <a:lnTo>
                    <a:pt x="0" y="1383125"/>
                  </a:lnTo>
                  <a:close/>
                </a:path>
              </a:pathLst>
            </a:custGeom>
            <a:gradFill rotWithShape="true">
              <a:gsLst>
                <a:gs pos="0">
                  <a:srgbClr val="DDDDDD">
                    <a:alpha val="100000"/>
                  </a:srgbClr>
                </a:gs>
                <a:gs pos="100000">
                  <a:srgbClr val="DDDDD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26792" cy="1411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21609" y="4999425"/>
            <a:ext cx="2232991" cy="194494"/>
            <a:chOff x="0" y="0"/>
            <a:chExt cx="296570" cy="258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6570" cy="25831"/>
            </a:xfrm>
            <a:custGeom>
              <a:avLst/>
              <a:gdLst/>
              <a:ahLst/>
              <a:cxnLst/>
              <a:rect r="r" b="b" t="t" l="l"/>
              <a:pathLst>
                <a:path h="25831" w="296570">
                  <a:moveTo>
                    <a:pt x="0" y="0"/>
                  </a:moveTo>
                  <a:lnTo>
                    <a:pt x="296570" y="0"/>
                  </a:lnTo>
                  <a:lnTo>
                    <a:pt x="296570" y="25831"/>
                  </a:lnTo>
                  <a:lnTo>
                    <a:pt x="0" y="25831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96570" cy="5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373682" y="3051149"/>
            <a:ext cx="6904447" cy="159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57"/>
              </a:lnSpc>
            </a:pPr>
            <a:r>
              <a:rPr lang="en-US" sz="9548" spc="-840" b="tru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Research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73682" y="4397599"/>
            <a:ext cx="6234486" cy="158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57"/>
              </a:lnSpc>
            </a:pPr>
            <a:r>
              <a:rPr lang="en-US" sz="9548" spc="-649" b="true">
                <a:solidFill>
                  <a:srgbClr val="8B1E1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Question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1167" y="1174115"/>
            <a:ext cx="10626868" cy="1212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2"/>
              </a:lnSpc>
              <a:spcBef>
                <a:spcPct val="0"/>
              </a:spcBef>
            </a:pPr>
            <a:r>
              <a:rPr lang="en-US" sz="3494" i="true" spc="-174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How rel</a:t>
            </a:r>
            <a:r>
              <a:rPr lang="en-US" sz="3494" i="true" spc="-174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iably do article abstracts represent the thematic focus declared in a journal’s Aims &amp; Scope?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3672" y="6368671"/>
            <a:ext cx="3848849" cy="49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Paper-level summaries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1167" y="4188070"/>
            <a:ext cx="5842522" cy="49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Journal-level thematic description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21609" y="7183316"/>
            <a:ext cx="2232991" cy="194494"/>
            <a:chOff x="0" y="0"/>
            <a:chExt cx="296570" cy="258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6570" cy="25831"/>
            </a:xfrm>
            <a:custGeom>
              <a:avLst/>
              <a:gdLst/>
              <a:ahLst/>
              <a:cxnLst/>
              <a:rect r="r" b="b" t="t" l="l"/>
              <a:pathLst>
                <a:path h="25831" w="296570">
                  <a:moveTo>
                    <a:pt x="0" y="0"/>
                  </a:moveTo>
                  <a:lnTo>
                    <a:pt x="296570" y="0"/>
                  </a:lnTo>
                  <a:lnTo>
                    <a:pt x="296570" y="25831"/>
                  </a:lnTo>
                  <a:lnTo>
                    <a:pt x="0" y="25831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96570" cy="5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63672" y="8601400"/>
            <a:ext cx="11316141" cy="49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-55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Measure alignment between them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21609" y="2789037"/>
            <a:ext cx="2232991" cy="194494"/>
            <a:chOff x="0" y="0"/>
            <a:chExt cx="296570" cy="258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6570" cy="25831"/>
            </a:xfrm>
            <a:custGeom>
              <a:avLst/>
              <a:gdLst/>
              <a:ahLst/>
              <a:cxnLst/>
              <a:rect r="r" b="b" t="t" l="l"/>
              <a:pathLst>
                <a:path h="25831" w="296570">
                  <a:moveTo>
                    <a:pt x="0" y="0"/>
                  </a:moveTo>
                  <a:lnTo>
                    <a:pt x="296570" y="0"/>
                  </a:lnTo>
                  <a:lnTo>
                    <a:pt x="296570" y="25831"/>
                  </a:lnTo>
                  <a:lnTo>
                    <a:pt x="0" y="25831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96570" cy="54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481167" y="3374055"/>
            <a:ext cx="4482192" cy="8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3"/>
              </a:lnSpc>
            </a:pPr>
            <a:r>
              <a:rPr lang="en-US" b="true" sz="5286" i="true" spc="-465">
                <a:solidFill>
                  <a:srgbClr val="20202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AIMS &amp; SCOPE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3672" y="5535606"/>
            <a:ext cx="4482192" cy="8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3"/>
              </a:lnSpc>
            </a:pPr>
            <a:r>
              <a:rPr lang="en-US" b="true" sz="5286" i="true" spc="-465">
                <a:solidFill>
                  <a:srgbClr val="20202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ABSTRACTS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63672" y="7768335"/>
            <a:ext cx="4482192" cy="8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3"/>
              </a:lnSpc>
            </a:pPr>
            <a:r>
              <a:rPr lang="en-US" b="true" sz="5286" i="true" spc="-465">
                <a:solidFill>
                  <a:srgbClr val="20202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GOAL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99557"/>
            <a:ext cx="5763441" cy="2733051"/>
            <a:chOff x="0" y="0"/>
            <a:chExt cx="1517943" cy="719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7943" cy="719816"/>
            </a:xfrm>
            <a:custGeom>
              <a:avLst/>
              <a:gdLst/>
              <a:ahLst/>
              <a:cxnLst/>
              <a:rect r="r" b="b" t="t" l="l"/>
              <a:pathLst>
                <a:path h="719816" w="1517943">
                  <a:moveTo>
                    <a:pt x="0" y="0"/>
                  </a:moveTo>
                  <a:lnTo>
                    <a:pt x="1517943" y="0"/>
                  </a:lnTo>
                  <a:lnTo>
                    <a:pt x="1517943" y="719816"/>
                  </a:lnTo>
                  <a:lnTo>
                    <a:pt x="0" y="719816"/>
                  </a:lnTo>
                  <a:close/>
                </a:path>
              </a:pathLst>
            </a:custGeom>
            <a:gradFill rotWithShape="true">
              <a:gsLst>
                <a:gs pos="0">
                  <a:srgbClr val="DDDDDD">
                    <a:alpha val="100000"/>
                  </a:srgbClr>
                </a:gs>
                <a:gs pos="100000">
                  <a:srgbClr val="DDDDD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517943" cy="748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095538" y="2139976"/>
            <a:ext cx="407864" cy="407864"/>
          </a:xfrm>
          <a:custGeom>
            <a:avLst/>
            <a:gdLst/>
            <a:ahLst/>
            <a:cxnLst/>
            <a:rect r="r" b="b" t="t" l="l"/>
            <a:pathLst>
              <a:path h="407864" w="407864">
                <a:moveTo>
                  <a:pt x="0" y="0"/>
                </a:moveTo>
                <a:lnTo>
                  <a:pt x="407864" y="0"/>
                </a:lnTo>
                <a:lnTo>
                  <a:pt x="407864" y="407864"/>
                </a:lnTo>
                <a:lnTo>
                  <a:pt x="0" y="407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0" y="2938365"/>
            <a:ext cx="18503735" cy="67591"/>
            <a:chOff x="0" y="0"/>
            <a:chExt cx="4873412" cy="178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73411" cy="17802"/>
            </a:xfrm>
            <a:custGeom>
              <a:avLst/>
              <a:gdLst/>
              <a:ahLst/>
              <a:cxnLst/>
              <a:rect r="r" b="b" t="t" l="l"/>
              <a:pathLst>
                <a:path h="17802" w="4873411">
                  <a:moveTo>
                    <a:pt x="0" y="0"/>
                  </a:moveTo>
                  <a:lnTo>
                    <a:pt x="4873411" y="0"/>
                  </a:lnTo>
                  <a:lnTo>
                    <a:pt x="4873411" y="17802"/>
                  </a:lnTo>
                  <a:lnTo>
                    <a:pt x="0" y="17802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873412" cy="46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30795" y="580653"/>
            <a:ext cx="1355914" cy="1314004"/>
          </a:xfrm>
          <a:custGeom>
            <a:avLst/>
            <a:gdLst/>
            <a:ahLst/>
            <a:cxnLst/>
            <a:rect r="r" b="b" t="t" l="l"/>
            <a:pathLst>
              <a:path h="1314004" w="1355914">
                <a:moveTo>
                  <a:pt x="0" y="0"/>
                </a:moveTo>
                <a:lnTo>
                  <a:pt x="1355914" y="0"/>
                </a:lnTo>
                <a:lnTo>
                  <a:pt x="1355914" y="1314004"/>
                </a:lnTo>
                <a:lnTo>
                  <a:pt x="0" y="13140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81879" y="5675308"/>
            <a:ext cx="3715260" cy="4114800"/>
          </a:xfrm>
          <a:custGeom>
            <a:avLst/>
            <a:gdLst/>
            <a:ahLst/>
            <a:cxnLst/>
            <a:rect r="r" b="b" t="t" l="l"/>
            <a:pathLst>
              <a:path h="4114800" w="3715260">
                <a:moveTo>
                  <a:pt x="0" y="0"/>
                </a:moveTo>
                <a:lnTo>
                  <a:pt x="3715260" y="0"/>
                </a:lnTo>
                <a:lnTo>
                  <a:pt x="37152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815804" y="8513417"/>
            <a:ext cx="1500100" cy="75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59"/>
              </a:lnSpc>
              <a:spcBef>
                <a:spcPct val="0"/>
              </a:spcBef>
            </a:pPr>
            <a:r>
              <a:rPr lang="en-US" sz="4399" spc="-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2525" y="783357"/>
            <a:ext cx="7050434" cy="229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70"/>
              </a:lnSpc>
            </a:pPr>
            <a:r>
              <a:rPr lang="en-US" sz="13725" spc="-1207" b="true">
                <a:solidFill>
                  <a:srgbClr val="8B1E1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</a:t>
            </a:r>
            <a:r>
              <a:rPr lang="en-US" sz="13725" spc="-1207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15804" y="5675308"/>
            <a:ext cx="7483667" cy="2472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67"/>
              </a:lnSpc>
            </a:pPr>
            <a:r>
              <a:rPr lang="en-US" sz="14806" spc="-1006" b="true">
                <a:solidFill>
                  <a:srgbClr val="8B1E1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80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65286" y="1751782"/>
            <a:ext cx="2082731" cy="102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57"/>
              </a:lnSpc>
              <a:spcBef>
                <a:spcPct val="0"/>
              </a:spcBef>
            </a:pPr>
            <a:r>
              <a:rPr lang="en-US" sz="6041" i="true" spc="-302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JMLR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6457" y="3780801"/>
            <a:ext cx="15846055" cy="832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7" spc="-4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“The Journal of Machine Learning Research (JMLR), </a:t>
            </a:r>
            <a:r>
              <a:rPr lang="en-US" sz="2417" spc="-48" u="sng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  <a:hlinkClick r:id="rId8" tooltip="https://www.jmlr.org/history.html"/>
              </a:rPr>
              <a:t>established in 2000</a:t>
            </a:r>
            <a:r>
              <a:rPr lang="en-US" sz="2417" spc="-4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, provides an international forum for the electronic and paper publication of high-quality scholarly articles in all areas of machine learning.”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31675" y="8561068"/>
            <a:ext cx="3294395" cy="75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60"/>
              </a:lnSpc>
              <a:spcBef>
                <a:spcPct val="0"/>
              </a:spcBef>
            </a:pPr>
            <a:r>
              <a:rPr lang="en-US" sz="4400" spc="-8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ABSTRACT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53589" y="8561068"/>
            <a:ext cx="1584182" cy="75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60"/>
              </a:lnSpc>
              <a:spcBef>
                <a:spcPct val="0"/>
              </a:spcBef>
            </a:pPr>
            <a:r>
              <a:rPr lang="en-US" sz="4400" spc="-8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YEAR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17711" y="8608720"/>
            <a:ext cx="1184802" cy="75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60"/>
              </a:lnSpc>
              <a:spcBef>
                <a:spcPct val="0"/>
              </a:spcBef>
            </a:pPr>
            <a:r>
              <a:rPr lang="en-US" sz="4400" spc="-8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URL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44504" y="8456240"/>
            <a:ext cx="174342" cy="859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104"/>
              </a:lnSpc>
              <a:spcBef>
                <a:spcPct val="0"/>
              </a:spcBef>
            </a:pPr>
            <a:r>
              <a:rPr lang="en-US" sz="5074" spc="-101">
                <a:solidFill>
                  <a:srgbClr val="8B1E1E"/>
                </a:solidFill>
                <a:latin typeface="Open Sauce"/>
                <a:ea typeface="Open Sauce"/>
                <a:cs typeface="Open Sauce"/>
                <a:sym typeface="Open Sauce"/>
              </a:rPr>
              <a:t>|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50647" y="8503892"/>
            <a:ext cx="174342" cy="859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104"/>
              </a:lnSpc>
              <a:spcBef>
                <a:spcPct val="0"/>
              </a:spcBef>
            </a:pPr>
            <a:r>
              <a:rPr lang="en-US" sz="5074" spc="-101">
                <a:solidFill>
                  <a:srgbClr val="8B1E1E"/>
                </a:solidFill>
                <a:latin typeface="Open Sauce"/>
                <a:ea typeface="Open Sauce"/>
                <a:cs typeface="Open Sauce"/>
                <a:sym typeface="Open Sauce"/>
              </a:rPr>
              <a:t>|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490943" y="8456240"/>
            <a:ext cx="174342" cy="859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104"/>
              </a:lnSpc>
              <a:spcBef>
                <a:spcPct val="0"/>
              </a:spcBef>
            </a:pPr>
            <a:r>
              <a:rPr lang="en-US" sz="5074" spc="-101">
                <a:solidFill>
                  <a:srgbClr val="8B1E1E"/>
                </a:solidFill>
                <a:latin typeface="Open Sauce"/>
                <a:ea typeface="Open Sauce"/>
                <a:cs typeface="Open Sauce"/>
                <a:sym typeface="Open Sauce"/>
              </a:rPr>
              <a:t>|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70692" y="5675308"/>
            <a:ext cx="5149777" cy="2485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9"/>
              </a:lnSpc>
            </a:pPr>
            <a:r>
              <a:rPr lang="en-US" sz="7482" spc="-658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PAPER ABSTRACTS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948" y="378381"/>
            <a:ext cx="1140102" cy="1104863"/>
          </a:xfrm>
          <a:custGeom>
            <a:avLst/>
            <a:gdLst/>
            <a:ahLst/>
            <a:cxnLst/>
            <a:rect r="r" b="b" t="t" l="l"/>
            <a:pathLst>
              <a:path h="1104863" w="1140102">
                <a:moveTo>
                  <a:pt x="0" y="0"/>
                </a:moveTo>
                <a:lnTo>
                  <a:pt x="1140102" y="0"/>
                </a:lnTo>
                <a:lnTo>
                  <a:pt x="1140102" y="1104863"/>
                </a:lnTo>
                <a:lnTo>
                  <a:pt x="0" y="1104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5271" y="3470314"/>
            <a:ext cx="4020612" cy="6598246"/>
            <a:chOff x="0" y="0"/>
            <a:chExt cx="971348" cy="15940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1348" cy="1594085"/>
            </a:xfrm>
            <a:custGeom>
              <a:avLst/>
              <a:gdLst/>
              <a:ahLst/>
              <a:cxnLst/>
              <a:rect r="r" b="b" t="t" l="l"/>
              <a:pathLst>
                <a:path h="1594085" w="971348">
                  <a:moveTo>
                    <a:pt x="55841" y="0"/>
                  </a:moveTo>
                  <a:lnTo>
                    <a:pt x="915507" y="0"/>
                  </a:lnTo>
                  <a:cubicBezTo>
                    <a:pt x="930317" y="0"/>
                    <a:pt x="944521" y="5883"/>
                    <a:pt x="954993" y="16355"/>
                  </a:cubicBezTo>
                  <a:cubicBezTo>
                    <a:pt x="965465" y="26828"/>
                    <a:pt x="971348" y="41031"/>
                    <a:pt x="971348" y="55841"/>
                  </a:cubicBezTo>
                  <a:lnTo>
                    <a:pt x="971348" y="1538243"/>
                  </a:lnTo>
                  <a:cubicBezTo>
                    <a:pt x="971348" y="1569084"/>
                    <a:pt x="946348" y="1594085"/>
                    <a:pt x="915507" y="1594085"/>
                  </a:cubicBezTo>
                  <a:lnTo>
                    <a:pt x="55841" y="1594085"/>
                  </a:lnTo>
                  <a:cubicBezTo>
                    <a:pt x="41031" y="1594085"/>
                    <a:pt x="26828" y="1588201"/>
                    <a:pt x="16355" y="1577729"/>
                  </a:cubicBezTo>
                  <a:cubicBezTo>
                    <a:pt x="5883" y="1567257"/>
                    <a:pt x="0" y="1553053"/>
                    <a:pt x="0" y="1538243"/>
                  </a:cubicBezTo>
                  <a:lnTo>
                    <a:pt x="0" y="55841"/>
                  </a:lnTo>
                  <a:cubicBezTo>
                    <a:pt x="0" y="41031"/>
                    <a:pt x="5883" y="26828"/>
                    <a:pt x="16355" y="16355"/>
                  </a:cubicBezTo>
                  <a:cubicBezTo>
                    <a:pt x="26828" y="5883"/>
                    <a:pt x="41031" y="0"/>
                    <a:pt x="55841" y="0"/>
                  </a:cubicBezTo>
                  <a:close/>
                </a:path>
              </a:pathLst>
            </a:custGeom>
            <a:blipFill>
              <a:blip r:embed="rId4"/>
              <a:stretch>
                <a:fillRect l="-1750" t="0" r="-175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640430" y="378381"/>
            <a:ext cx="407864" cy="407864"/>
          </a:xfrm>
          <a:custGeom>
            <a:avLst/>
            <a:gdLst/>
            <a:ahLst/>
            <a:cxnLst/>
            <a:rect r="r" b="b" t="t" l="l"/>
            <a:pathLst>
              <a:path h="407864" w="407864">
                <a:moveTo>
                  <a:pt x="0" y="0"/>
                </a:moveTo>
                <a:lnTo>
                  <a:pt x="407865" y="0"/>
                </a:lnTo>
                <a:lnTo>
                  <a:pt x="407865" y="407865"/>
                </a:lnTo>
                <a:lnTo>
                  <a:pt x="0" y="40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5400000">
            <a:off x="12095671" y="-5050390"/>
            <a:ext cx="4235146" cy="6092111"/>
            <a:chOff x="0" y="0"/>
            <a:chExt cx="1115430" cy="16045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5429" cy="1604507"/>
            </a:xfrm>
            <a:custGeom>
              <a:avLst/>
              <a:gdLst/>
              <a:ahLst/>
              <a:cxnLst/>
              <a:rect r="r" b="b" t="t" l="l"/>
              <a:pathLst>
                <a:path h="1604507" w="1115429">
                  <a:moveTo>
                    <a:pt x="0" y="0"/>
                  </a:moveTo>
                  <a:lnTo>
                    <a:pt x="1115429" y="0"/>
                  </a:lnTo>
                  <a:lnTo>
                    <a:pt x="1115429" y="1604507"/>
                  </a:lnTo>
                  <a:lnTo>
                    <a:pt x="0" y="1604507"/>
                  </a:lnTo>
                  <a:close/>
                </a:path>
              </a:pathLst>
            </a:custGeom>
            <a:gradFill rotWithShape="true">
              <a:gsLst>
                <a:gs pos="0">
                  <a:srgbClr val="DDDDDD">
                    <a:alpha val="100000"/>
                  </a:srgbClr>
                </a:gs>
                <a:gs pos="100000">
                  <a:srgbClr val="DDDDD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115430" cy="1671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24318" y="6007695"/>
            <a:ext cx="5231817" cy="47625"/>
            <a:chOff x="0" y="0"/>
            <a:chExt cx="1377927" cy="12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7927" cy="12543"/>
            </a:xfrm>
            <a:custGeom>
              <a:avLst/>
              <a:gdLst/>
              <a:ahLst/>
              <a:cxnLst/>
              <a:rect r="r" b="b" t="t" l="l"/>
              <a:pathLst>
                <a:path h="12543" w="1377927">
                  <a:moveTo>
                    <a:pt x="0" y="0"/>
                  </a:moveTo>
                  <a:lnTo>
                    <a:pt x="1377927" y="0"/>
                  </a:lnTo>
                  <a:lnTo>
                    <a:pt x="1377927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77927" cy="79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658764" y="8669452"/>
            <a:ext cx="5197371" cy="47625"/>
            <a:chOff x="0" y="0"/>
            <a:chExt cx="1368855" cy="125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8855" cy="12543"/>
            </a:xfrm>
            <a:custGeom>
              <a:avLst/>
              <a:gdLst/>
              <a:ahLst/>
              <a:cxnLst/>
              <a:rect r="r" b="b" t="t" l="l"/>
              <a:pathLst>
                <a:path h="12543" w="1368855">
                  <a:moveTo>
                    <a:pt x="0" y="0"/>
                  </a:moveTo>
                  <a:lnTo>
                    <a:pt x="1368855" y="0"/>
                  </a:lnTo>
                  <a:lnTo>
                    <a:pt x="1368855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368855" cy="79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81407" y="577827"/>
            <a:ext cx="5181861" cy="3069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2"/>
              </a:lnSpc>
            </a:pPr>
            <a:r>
              <a:rPr lang="en-US" sz="9627" spc="-847" b="tru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</a:t>
            </a:r>
          </a:p>
          <a:p>
            <a:pPr algn="l">
              <a:lnSpc>
                <a:spcPts val="11552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275460" y="1916381"/>
            <a:ext cx="5450052" cy="160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2"/>
              </a:lnSpc>
            </a:pPr>
            <a:r>
              <a:rPr lang="en-US" sz="9627" spc="-654" b="true">
                <a:solidFill>
                  <a:srgbClr val="8B1E1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PIPELINE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36214" y="2159988"/>
            <a:ext cx="2597361" cy="42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  <a:spcBef>
                <a:spcPct val="0"/>
              </a:spcBef>
            </a:pPr>
            <a:r>
              <a:rPr lang="en-US" sz="2535" i="true" spc="-126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collect_papers.py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72847" y="346944"/>
            <a:ext cx="3252085" cy="59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spc="-70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JMLR website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11237" y="1420153"/>
            <a:ext cx="3691337" cy="59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spc="-70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Collect abstracts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17740" y="3019572"/>
            <a:ext cx="2373580" cy="59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spc="-70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Clean Text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72847" y="4646401"/>
            <a:ext cx="3192186" cy="59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spc="-70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TF-IDF vectors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52331" y="6226502"/>
            <a:ext cx="4274706" cy="59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spc="-70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Embedding vectors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14237" y="7861528"/>
            <a:ext cx="3950895" cy="59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spc="-70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Cosine Similarity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54510" y="8870891"/>
            <a:ext cx="5804790" cy="59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spc="-70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Comparison. Outliers. Plots.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75636" y="3759406"/>
            <a:ext cx="1918516" cy="42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  <a:spcBef>
                <a:spcPct val="0"/>
              </a:spcBef>
            </a:pPr>
            <a:r>
              <a:rPr lang="en-US" sz="2535" i="true" spc="-126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clean_text.py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52210" y="5395761"/>
            <a:ext cx="1074899" cy="42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  <a:spcBef>
                <a:spcPct val="0"/>
              </a:spcBef>
            </a:pPr>
            <a:r>
              <a:rPr lang="en-US" sz="2535" i="true" spc="-126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tfidf.py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64766" y="6975861"/>
            <a:ext cx="2135488" cy="42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i="true" spc="-130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embedding.py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818493" y="9639300"/>
            <a:ext cx="5202897" cy="42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i="true" spc="-130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compare.py | outliers.py | plots.py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641541" y="7690078"/>
            <a:ext cx="5197371" cy="47625"/>
            <a:chOff x="0" y="0"/>
            <a:chExt cx="1368855" cy="125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68855" cy="12543"/>
            </a:xfrm>
            <a:custGeom>
              <a:avLst/>
              <a:gdLst/>
              <a:ahLst/>
              <a:cxnLst/>
              <a:rect r="r" b="b" t="t" l="l"/>
              <a:pathLst>
                <a:path h="12543" w="1368855">
                  <a:moveTo>
                    <a:pt x="0" y="0"/>
                  </a:moveTo>
                  <a:lnTo>
                    <a:pt x="1368855" y="0"/>
                  </a:lnTo>
                  <a:lnTo>
                    <a:pt x="1368855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368855" cy="79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73751" y="4427326"/>
            <a:ext cx="5231817" cy="47625"/>
            <a:chOff x="0" y="0"/>
            <a:chExt cx="1377927" cy="125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77927" cy="12543"/>
            </a:xfrm>
            <a:custGeom>
              <a:avLst/>
              <a:gdLst/>
              <a:ahLst/>
              <a:cxnLst/>
              <a:rect r="r" b="b" t="t" l="l"/>
              <a:pathLst>
                <a:path h="12543" w="1377927">
                  <a:moveTo>
                    <a:pt x="0" y="0"/>
                  </a:moveTo>
                  <a:lnTo>
                    <a:pt x="1377927" y="0"/>
                  </a:lnTo>
                  <a:lnTo>
                    <a:pt x="1377927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1377927" cy="79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673751" y="2829072"/>
            <a:ext cx="5231817" cy="47625"/>
            <a:chOff x="0" y="0"/>
            <a:chExt cx="1377927" cy="125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77927" cy="12543"/>
            </a:xfrm>
            <a:custGeom>
              <a:avLst/>
              <a:gdLst/>
              <a:ahLst/>
              <a:cxnLst/>
              <a:rect r="r" b="b" t="t" l="l"/>
              <a:pathLst>
                <a:path h="12543" w="1377927">
                  <a:moveTo>
                    <a:pt x="0" y="0"/>
                  </a:moveTo>
                  <a:lnTo>
                    <a:pt x="1377927" y="0"/>
                  </a:lnTo>
                  <a:lnTo>
                    <a:pt x="1377927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1377927" cy="79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658764" y="1191553"/>
            <a:ext cx="5231817" cy="47625"/>
            <a:chOff x="0" y="0"/>
            <a:chExt cx="1377927" cy="1254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77927" cy="12543"/>
            </a:xfrm>
            <a:custGeom>
              <a:avLst/>
              <a:gdLst/>
              <a:ahLst/>
              <a:cxnLst/>
              <a:rect r="r" b="b" t="t" l="l"/>
              <a:pathLst>
                <a:path h="12543" w="1377927">
                  <a:moveTo>
                    <a:pt x="0" y="0"/>
                  </a:moveTo>
                  <a:lnTo>
                    <a:pt x="1377927" y="0"/>
                  </a:lnTo>
                  <a:lnTo>
                    <a:pt x="1377927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377927" cy="79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768" y="372027"/>
            <a:ext cx="1293344" cy="1253368"/>
          </a:xfrm>
          <a:custGeom>
            <a:avLst/>
            <a:gdLst/>
            <a:ahLst/>
            <a:cxnLst/>
            <a:rect r="r" b="b" t="t" l="l"/>
            <a:pathLst>
              <a:path h="1253368" w="1293344">
                <a:moveTo>
                  <a:pt x="0" y="0"/>
                </a:moveTo>
                <a:lnTo>
                  <a:pt x="1293344" y="0"/>
                </a:lnTo>
                <a:lnTo>
                  <a:pt x="1293344" y="1253368"/>
                </a:lnTo>
                <a:lnTo>
                  <a:pt x="0" y="1253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2083581"/>
            <a:ext cx="17904754" cy="47625"/>
            <a:chOff x="0" y="0"/>
            <a:chExt cx="4715655" cy="125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15656" cy="12543"/>
            </a:xfrm>
            <a:custGeom>
              <a:avLst/>
              <a:gdLst/>
              <a:ahLst/>
              <a:cxnLst/>
              <a:rect r="r" b="b" t="t" l="l"/>
              <a:pathLst>
                <a:path h="12543" w="4715656">
                  <a:moveTo>
                    <a:pt x="0" y="0"/>
                  </a:moveTo>
                  <a:lnTo>
                    <a:pt x="4715656" y="0"/>
                  </a:lnTo>
                  <a:lnTo>
                    <a:pt x="471565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715655" cy="4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2738745" y="-1710045"/>
            <a:ext cx="1206063" cy="4626152"/>
            <a:chOff x="0" y="0"/>
            <a:chExt cx="317646" cy="12184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646" cy="1218410"/>
            </a:xfrm>
            <a:custGeom>
              <a:avLst/>
              <a:gdLst/>
              <a:ahLst/>
              <a:cxnLst/>
              <a:rect r="r" b="b" t="t" l="l"/>
              <a:pathLst>
                <a:path h="1218410" w="317646">
                  <a:moveTo>
                    <a:pt x="0" y="0"/>
                  </a:moveTo>
                  <a:lnTo>
                    <a:pt x="317646" y="0"/>
                  </a:lnTo>
                  <a:lnTo>
                    <a:pt x="317646" y="1218410"/>
                  </a:lnTo>
                  <a:lnTo>
                    <a:pt x="0" y="1218410"/>
                  </a:lnTo>
                  <a:close/>
                </a:path>
              </a:pathLst>
            </a:custGeom>
            <a:gradFill rotWithShape="true">
              <a:gsLst>
                <a:gs pos="0">
                  <a:srgbClr val="DDDDDD">
                    <a:alpha val="100000"/>
                  </a:srgbClr>
                </a:gs>
                <a:gs pos="100000">
                  <a:srgbClr val="DDDDD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17646" cy="12469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75508" y="2466253"/>
            <a:ext cx="407864" cy="407864"/>
          </a:xfrm>
          <a:custGeom>
            <a:avLst/>
            <a:gdLst/>
            <a:ahLst/>
            <a:cxnLst/>
            <a:rect r="r" b="b" t="t" l="l"/>
            <a:pathLst>
              <a:path h="407864" w="407864">
                <a:moveTo>
                  <a:pt x="0" y="0"/>
                </a:moveTo>
                <a:lnTo>
                  <a:pt x="407864" y="0"/>
                </a:lnTo>
                <a:lnTo>
                  <a:pt x="407864" y="407865"/>
                </a:lnTo>
                <a:lnTo>
                  <a:pt x="0" y="407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79440" y="5694219"/>
            <a:ext cx="9567371" cy="3078323"/>
          </a:xfrm>
          <a:custGeom>
            <a:avLst/>
            <a:gdLst/>
            <a:ahLst/>
            <a:cxnLst/>
            <a:rect r="r" b="b" t="t" l="l"/>
            <a:pathLst>
              <a:path h="3078323" w="9567371">
                <a:moveTo>
                  <a:pt x="0" y="0"/>
                </a:moveTo>
                <a:lnTo>
                  <a:pt x="9567371" y="0"/>
                </a:lnTo>
                <a:lnTo>
                  <a:pt x="9567371" y="3078323"/>
                </a:lnTo>
                <a:lnTo>
                  <a:pt x="0" y="30783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66761" y="3205090"/>
            <a:ext cx="8337993" cy="4690121"/>
          </a:xfrm>
          <a:custGeom>
            <a:avLst/>
            <a:gdLst/>
            <a:ahLst/>
            <a:cxnLst/>
            <a:rect r="r" b="b" t="t" l="l"/>
            <a:pathLst>
              <a:path h="4690121" w="8337993">
                <a:moveTo>
                  <a:pt x="0" y="0"/>
                </a:moveTo>
                <a:lnTo>
                  <a:pt x="8337993" y="0"/>
                </a:lnTo>
                <a:lnTo>
                  <a:pt x="8337993" y="4690122"/>
                </a:lnTo>
                <a:lnTo>
                  <a:pt x="0" y="46901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26112" y="362502"/>
            <a:ext cx="7358063" cy="167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10"/>
              </a:lnSpc>
            </a:pPr>
            <a:r>
              <a:rPr lang="en-US" sz="10008" spc="-880" b="true">
                <a:solidFill>
                  <a:srgbClr val="8B1E1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TF - IDF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98330" y="362502"/>
            <a:ext cx="9038365" cy="167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10"/>
              </a:lnSpc>
            </a:pPr>
            <a:r>
              <a:rPr lang="en-US" sz="10008" spc="-68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6074" y="2306731"/>
            <a:ext cx="9237388" cy="65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i="true" spc="-189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Lex</a:t>
            </a:r>
            <a:r>
              <a:rPr lang="en-US" sz="3799" i="true" spc="-189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ical baseline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9440" y="3347965"/>
            <a:ext cx="11640682" cy="150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8"/>
              </a:lnSpc>
            </a:pPr>
            <a:r>
              <a:rPr lang="en-US" sz="2884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Converts text into sparse word-based vectors</a:t>
            </a:r>
          </a:p>
          <a:p>
            <a:pPr algn="l">
              <a:lnSpc>
                <a:spcPts val="4038"/>
              </a:lnSpc>
            </a:pPr>
            <a:r>
              <a:rPr lang="en-US" sz="2884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Measures vocabulary overlap</a:t>
            </a:r>
          </a:p>
          <a:p>
            <a:pPr algn="l">
              <a:lnSpc>
                <a:spcPts val="4038"/>
              </a:lnSpc>
            </a:pPr>
            <a:r>
              <a:rPr lang="en-US" sz="2884" spc="-5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Uses cosine similarity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4844" y="307836"/>
            <a:ext cx="1487713" cy="1441729"/>
          </a:xfrm>
          <a:custGeom>
            <a:avLst/>
            <a:gdLst/>
            <a:ahLst/>
            <a:cxnLst/>
            <a:rect r="r" b="b" t="t" l="l"/>
            <a:pathLst>
              <a:path h="1441729" w="1487713">
                <a:moveTo>
                  <a:pt x="0" y="0"/>
                </a:moveTo>
                <a:lnTo>
                  <a:pt x="1487712" y="0"/>
                </a:lnTo>
                <a:lnTo>
                  <a:pt x="1487712" y="1441728"/>
                </a:lnTo>
                <a:lnTo>
                  <a:pt x="0" y="1441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72556" y="538442"/>
            <a:ext cx="8115300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5"/>
              </a:lnSpc>
            </a:pPr>
            <a:r>
              <a:rPr lang="en-US" sz="12379" spc="-1089" b="true">
                <a:solidFill>
                  <a:srgbClr val="8B1E1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Embedding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53625" y="538442"/>
            <a:ext cx="5136757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5"/>
              </a:lnSpc>
            </a:pPr>
            <a:r>
              <a:rPr lang="en-US" sz="12379" spc="-841" b="tru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81729" y="3519767"/>
            <a:ext cx="693941" cy="693941"/>
          </a:xfrm>
          <a:custGeom>
            <a:avLst/>
            <a:gdLst/>
            <a:ahLst/>
            <a:cxnLst/>
            <a:rect r="r" b="b" t="t" l="l"/>
            <a:pathLst>
              <a:path h="693941" w="693941">
                <a:moveTo>
                  <a:pt x="0" y="0"/>
                </a:moveTo>
                <a:lnTo>
                  <a:pt x="693942" y="0"/>
                </a:lnTo>
                <a:lnTo>
                  <a:pt x="693942" y="693941"/>
                </a:lnTo>
                <a:lnTo>
                  <a:pt x="0" y="693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2538682"/>
            <a:ext cx="18288000" cy="47635"/>
            <a:chOff x="0" y="0"/>
            <a:chExt cx="4816593" cy="125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2546"/>
            </a:xfrm>
            <a:custGeom>
              <a:avLst/>
              <a:gdLst/>
              <a:ahLst/>
              <a:cxnLst/>
              <a:rect r="r" b="b" t="t" l="l"/>
              <a:pathLst>
                <a:path h="1254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546"/>
                  </a:lnTo>
                  <a:lnTo>
                    <a:pt x="0" y="12546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816593" cy="41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953625" y="3600560"/>
            <a:ext cx="7967275" cy="4481592"/>
          </a:xfrm>
          <a:custGeom>
            <a:avLst/>
            <a:gdLst/>
            <a:ahLst/>
            <a:cxnLst/>
            <a:rect r="r" b="b" t="t" l="l"/>
            <a:pathLst>
              <a:path h="4481592" w="7967275">
                <a:moveTo>
                  <a:pt x="0" y="0"/>
                </a:moveTo>
                <a:lnTo>
                  <a:pt x="7967275" y="0"/>
                </a:lnTo>
                <a:lnTo>
                  <a:pt x="7967275" y="4481593"/>
                </a:lnTo>
                <a:lnTo>
                  <a:pt x="0" y="44815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38325" y="3533885"/>
            <a:ext cx="4386000" cy="59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9"/>
              </a:lnSpc>
              <a:spcBef>
                <a:spcPct val="0"/>
              </a:spcBef>
            </a:pPr>
            <a:r>
              <a:rPr lang="en-US" sz="3521" i="true" spc="-176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</a:t>
            </a:r>
            <a:r>
              <a:rPr lang="en-US" sz="3521" i="true" spc="-176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emantic comparison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7498" y="4370281"/>
            <a:ext cx="9140358" cy="87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8"/>
              </a:lnSpc>
              <a:spcBef>
                <a:spcPct val="0"/>
              </a:spcBef>
            </a:pPr>
            <a:r>
              <a:rPr lang="en-US" b="true" sz="2534" i="true" spc="-50">
                <a:solidFill>
                  <a:srgbClr val="20202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Embeddings represent text as dense numerical vectors that capture semantic meaning.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7498" y="6145701"/>
            <a:ext cx="8224613" cy="66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2"/>
              </a:lnSpc>
              <a:spcBef>
                <a:spcPct val="0"/>
              </a:spcBef>
            </a:pPr>
            <a:r>
              <a:rPr lang="en-US" b="true" sz="3865" i="true" spc="-77">
                <a:solidFill>
                  <a:srgbClr val="20202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Why used?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7498" y="6960107"/>
            <a:ext cx="7435419" cy="89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sz="2621" spc="-52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Th</a:t>
            </a:r>
            <a:r>
              <a:rPr lang="en-US" sz="2621" spc="-52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ey can detect similarity even when two texts use different words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7055368" y="2486403"/>
            <a:ext cx="1232632" cy="5679804"/>
            <a:chOff x="0" y="0"/>
            <a:chExt cx="324644" cy="14959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4644" cy="1495915"/>
            </a:xfrm>
            <a:custGeom>
              <a:avLst/>
              <a:gdLst/>
              <a:ahLst/>
              <a:cxnLst/>
              <a:rect r="r" b="b" t="t" l="l"/>
              <a:pathLst>
                <a:path h="1495915" w="324644">
                  <a:moveTo>
                    <a:pt x="0" y="0"/>
                  </a:moveTo>
                  <a:lnTo>
                    <a:pt x="324644" y="0"/>
                  </a:lnTo>
                  <a:lnTo>
                    <a:pt x="324644" y="1495915"/>
                  </a:lnTo>
                  <a:lnTo>
                    <a:pt x="0" y="1495915"/>
                  </a:lnTo>
                  <a:close/>
                </a:path>
              </a:pathLst>
            </a:custGeom>
            <a:gradFill rotWithShape="true">
              <a:gsLst>
                <a:gs pos="0">
                  <a:srgbClr val="DDDDDD">
                    <a:alpha val="100000"/>
                  </a:srgbClr>
                </a:gs>
                <a:gs pos="100000">
                  <a:srgbClr val="DDDDD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24644" cy="1524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160968"/>
            <a:ext cx="1232632" cy="5730614"/>
            <a:chOff x="0" y="0"/>
            <a:chExt cx="324644" cy="15092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4644" cy="1509298"/>
            </a:xfrm>
            <a:custGeom>
              <a:avLst/>
              <a:gdLst/>
              <a:ahLst/>
              <a:cxnLst/>
              <a:rect r="r" b="b" t="t" l="l"/>
              <a:pathLst>
                <a:path h="1509298" w="324644">
                  <a:moveTo>
                    <a:pt x="0" y="0"/>
                  </a:moveTo>
                  <a:lnTo>
                    <a:pt x="324644" y="0"/>
                  </a:lnTo>
                  <a:lnTo>
                    <a:pt x="324644" y="1509298"/>
                  </a:lnTo>
                  <a:lnTo>
                    <a:pt x="0" y="1509298"/>
                  </a:lnTo>
                  <a:close/>
                </a:path>
              </a:pathLst>
            </a:custGeom>
            <a:gradFill rotWithShape="true">
              <a:gsLst>
                <a:gs pos="0">
                  <a:srgbClr val="DDDDDD">
                    <a:alpha val="100000"/>
                  </a:srgbClr>
                </a:gs>
                <a:gs pos="100000">
                  <a:srgbClr val="DDDDD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24644" cy="1537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11971" y="2391153"/>
            <a:ext cx="407864" cy="407864"/>
          </a:xfrm>
          <a:custGeom>
            <a:avLst/>
            <a:gdLst/>
            <a:ahLst/>
            <a:cxnLst/>
            <a:rect r="r" b="b" t="t" l="l"/>
            <a:pathLst>
              <a:path h="407864" w="407864">
                <a:moveTo>
                  <a:pt x="0" y="0"/>
                </a:moveTo>
                <a:lnTo>
                  <a:pt x="407864" y="0"/>
                </a:lnTo>
                <a:lnTo>
                  <a:pt x="407864" y="407865"/>
                </a:lnTo>
                <a:lnTo>
                  <a:pt x="0" y="4078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0" y="8891582"/>
            <a:ext cx="8586089" cy="47968"/>
            <a:chOff x="0" y="0"/>
            <a:chExt cx="2261357" cy="126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61357" cy="12634"/>
            </a:xfrm>
            <a:custGeom>
              <a:avLst/>
              <a:gdLst/>
              <a:ahLst/>
              <a:cxnLst/>
              <a:rect r="r" b="b" t="t" l="l"/>
              <a:pathLst>
                <a:path h="12634" w="2261357">
                  <a:moveTo>
                    <a:pt x="0" y="0"/>
                  </a:moveTo>
                  <a:lnTo>
                    <a:pt x="2261357" y="0"/>
                  </a:lnTo>
                  <a:lnTo>
                    <a:pt x="2261357" y="12634"/>
                  </a:lnTo>
                  <a:lnTo>
                    <a:pt x="0" y="12634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261357" cy="41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93454" y="8127592"/>
            <a:ext cx="8294546" cy="48140"/>
            <a:chOff x="0" y="0"/>
            <a:chExt cx="2184572" cy="126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4572" cy="12679"/>
            </a:xfrm>
            <a:custGeom>
              <a:avLst/>
              <a:gdLst/>
              <a:ahLst/>
              <a:cxnLst/>
              <a:rect r="r" b="b" t="t" l="l"/>
              <a:pathLst>
                <a:path h="12679" w="2184572">
                  <a:moveTo>
                    <a:pt x="0" y="0"/>
                  </a:moveTo>
                  <a:lnTo>
                    <a:pt x="2184572" y="0"/>
                  </a:lnTo>
                  <a:lnTo>
                    <a:pt x="2184572" y="12679"/>
                  </a:lnTo>
                  <a:lnTo>
                    <a:pt x="0" y="12679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184572" cy="41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63966" y="431404"/>
            <a:ext cx="6040764" cy="135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5"/>
              </a:lnSpc>
            </a:pPr>
            <a:r>
              <a:rPr lang="en-US" sz="8237" spc="-724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58973" y="437481"/>
            <a:ext cx="3676464" cy="135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5"/>
              </a:lnSpc>
            </a:pPr>
            <a:r>
              <a:rPr lang="en-US" sz="8237" spc="-560" b="true">
                <a:solidFill>
                  <a:srgbClr val="8B1E1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209192" y="2078421"/>
            <a:ext cx="18706384" cy="47625"/>
            <a:chOff x="0" y="0"/>
            <a:chExt cx="4926784" cy="125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26785" cy="12543"/>
            </a:xfrm>
            <a:custGeom>
              <a:avLst/>
              <a:gdLst/>
              <a:ahLst/>
              <a:cxnLst/>
              <a:rect r="r" b="b" t="t" l="l"/>
              <a:pathLst>
                <a:path h="12543" w="4926785">
                  <a:moveTo>
                    <a:pt x="0" y="0"/>
                  </a:moveTo>
                  <a:lnTo>
                    <a:pt x="4926785" y="0"/>
                  </a:lnTo>
                  <a:lnTo>
                    <a:pt x="4926785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926784" cy="4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993454" y="2774488"/>
            <a:ext cx="8127107" cy="5079442"/>
          </a:xfrm>
          <a:custGeom>
            <a:avLst/>
            <a:gdLst/>
            <a:ahLst/>
            <a:cxnLst/>
            <a:rect r="r" b="b" t="t" l="l"/>
            <a:pathLst>
              <a:path h="5079442" w="8127107">
                <a:moveTo>
                  <a:pt x="0" y="0"/>
                </a:moveTo>
                <a:lnTo>
                  <a:pt x="8127106" y="0"/>
                </a:lnTo>
                <a:lnTo>
                  <a:pt x="8127106" y="5079441"/>
                </a:lnTo>
                <a:lnTo>
                  <a:pt x="0" y="50794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06243" y="3513915"/>
            <a:ext cx="8179846" cy="5122629"/>
          </a:xfrm>
          <a:custGeom>
            <a:avLst/>
            <a:gdLst/>
            <a:ahLst/>
            <a:cxnLst/>
            <a:rect r="r" b="b" t="t" l="l"/>
            <a:pathLst>
              <a:path h="5122629" w="8179846">
                <a:moveTo>
                  <a:pt x="0" y="0"/>
                </a:moveTo>
                <a:lnTo>
                  <a:pt x="8179846" y="0"/>
                </a:lnTo>
                <a:lnTo>
                  <a:pt x="8179846" y="5122629"/>
                </a:lnTo>
                <a:lnTo>
                  <a:pt x="0" y="5122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993454" y="2438263"/>
            <a:ext cx="8294546" cy="48140"/>
            <a:chOff x="0" y="0"/>
            <a:chExt cx="2184572" cy="126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84572" cy="12679"/>
            </a:xfrm>
            <a:custGeom>
              <a:avLst/>
              <a:gdLst/>
              <a:ahLst/>
              <a:cxnLst/>
              <a:rect r="r" b="b" t="t" l="l"/>
              <a:pathLst>
                <a:path h="12679" w="2184572">
                  <a:moveTo>
                    <a:pt x="0" y="0"/>
                  </a:moveTo>
                  <a:lnTo>
                    <a:pt x="2184572" y="0"/>
                  </a:lnTo>
                  <a:lnTo>
                    <a:pt x="2184572" y="12679"/>
                  </a:lnTo>
                  <a:lnTo>
                    <a:pt x="0" y="12679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184572" cy="41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0" y="3132482"/>
            <a:ext cx="8586089" cy="47968"/>
            <a:chOff x="0" y="0"/>
            <a:chExt cx="2261357" cy="12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61357" cy="12634"/>
            </a:xfrm>
            <a:custGeom>
              <a:avLst/>
              <a:gdLst/>
              <a:ahLst/>
              <a:cxnLst/>
              <a:rect r="r" b="b" t="t" l="l"/>
              <a:pathLst>
                <a:path h="12634" w="2261357">
                  <a:moveTo>
                    <a:pt x="0" y="0"/>
                  </a:moveTo>
                  <a:lnTo>
                    <a:pt x="2261357" y="0"/>
                  </a:lnTo>
                  <a:lnTo>
                    <a:pt x="2261357" y="12634"/>
                  </a:lnTo>
                  <a:lnTo>
                    <a:pt x="0" y="12634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261357" cy="41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aphicFrame>
        <p:nvGraphicFramePr>
          <p:cNvPr name="Object 28" id="28"/>
          <p:cNvGraphicFramePr/>
          <p:nvPr/>
        </p:nvGraphicFramePr>
        <p:xfrm>
          <a:off x="7614774" y="-95859"/>
          <a:ext cx="7543800" cy="1885950"/>
        </p:xfrm>
        <a:graphic>
          <a:graphicData uri="http://schemas.openxmlformats.org/presentationml/2006/ole">
            <p:oleObj imgW="9042400" imgH="33909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9" id="29"/>
          <p:cNvSpPr txBox="true"/>
          <p:nvPr/>
        </p:nvSpPr>
        <p:spPr>
          <a:xfrm rot="0">
            <a:off x="811971" y="9303816"/>
            <a:ext cx="6802802" cy="79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  <a:spcBef>
                <a:spcPct val="0"/>
              </a:spcBef>
            </a:pPr>
            <a:r>
              <a:rPr lang="en-US" b="true" sz="2288" i="true" spc="-45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TF-IDF scores are low becaus</a:t>
            </a:r>
            <a:r>
              <a:rPr lang="en-US" b="true" sz="2288" i="true" spc="-45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 abstracts use technical vocabulary.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93454" y="8601233"/>
            <a:ext cx="6906141" cy="89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6"/>
              </a:lnSpc>
              <a:spcBef>
                <a:spcPct val="0"/>
              </a:spcBef>
            </a:pPr>
            <a:r>
              <a:rPr lang="en-US" b="true" sz="2583" i="true" spc="-5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Embeddi</a:t>
            </a:r>
            <a:r>
              <a:rPr lang="en-US" b="true" sz="2583" i="true" spc="-51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ng scores are higher because embeddings capture semantic similarity.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06808" y="2377583"/>
            <a:ext cx="8399673" cy="42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  <a:spcBef>
                <a:spcPct val="0"/>
              </a:spcBef>
            </a:pPr>
            <a:r>
              <a:rPr lang="en-US" sz="2535" i="true" spc="-126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“Embedding similarity is much h</a:t>
            </a:r>
            <a:r>
              <a:rPr lang="en-US" sz="2535" i="true" spc="-126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igher than TF-IDF similarity”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9737"/>
            <a:ext cx="8115300" cy="2046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5"/>
              </a:lnSpc>
            </a:pPr>
            <a:r>
              <a:rPr lang="en-US" sz="12379" spc="-1089" b="true">
                <a:solidFill>
                  <a:srgbClr val="2020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12355430" y="4878433"/>
            <a:ext cx="5932570" cy="4729796"/>
            <a:chOff x="0" y="0"/>
            <a:chExt cx="1562488" cy="12457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62488" cy="1245708"/>
            </a:xfrm>
            <a:custGeom>
              <a:avLst/>
              <a:gdLst/>
              <a:ahLst/>
              <a:cxnLst/>
              <a:rect r="r" b="b" t="t" l="l"/>
              <a:pathLst>
                <a:path h="1245708" w="1562488">
                  <a:moveTo>
                    <a:pt x="0" y="0"/>
                  </a:moveTo>
                  <a:lnTo>
                    <a:pt x="1562488" y="0"/>
                  </a:lnTo>
                  <a:lnTo>
                    <a:pt x="1562488" y="1245708"/>
                  </a:lnTo>
                  <a:lnTo>
                    <a:pt x="0" y="1245708"/>
                  </a:lnTo>
                  <a:close/>
                </a:path>
              </a:pathLst>
            </a:custGeom>
            <a:gradFill rotWithShape="true">
              <a:gsLst>
                <a:gs pos="0">
                  <a:srgbClr val="DDDDDD">
                    <a:alpha val="100000"/>
                  </a:srgbClr>
                </a:gs>
                <a:gs pos="100000">
                  <a:srgbClr val="DDDDD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62488" cy="1274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2700000">
            <a:off x="259756" y="1160630"/>
            <a:ext cx="637014" cy="637014"/>
          </a:xfrm>
          <a:custGeom>
            <a:avLst/>
            <a:gdLst/>
            <a:ahLst/>
            <a:cxnLst/>
            <a:rect r="r" b="b" t="t" l="l"/>
            <a:pathLst>
              <a:path h="637014" w="637014">
                <a:moveTo>
                  <a:pt x="0" y="0"/>
                </a:moveTo>
                <a:lnTo>
                  <a:pt x="637014" y="0"/>
                </a:lnTo>
                <a:lnTo>
                  <a:pt x="637014" y="637014"/>
                </a:lnTo>
                <a:lnTo>
                  <a:pt x="0" y="637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2316324"/>
            <a:ext cx="18866239" cy="47625"/>
            <a:chOff x="0" y="0"/>
            <a:chExt cx="4968886" cy="125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68886" cy="12543"/>
            </a:xfrm>
            <a:custGeom>
              <a:avLst/>
              <a:gdLst/>
              <a:ahLst/>
              <a:cxnLst/>
              <a:rect r="r" b="b" t="t" l="l"/>
              <a:pathLst>
                <a:path h="12543" w="4968886">
                  <a:moveTo>
                    <a:pt x="0" y="0"/>
                  </a:moveTo>
                  <a:lnTo>
                    <a:pt x="4968886" y="0"/>
                  </a:lnTo>
                  <a:lnTo>
                    <a:pt x="496888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968886" cy="4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49286" y="4213103"/>
            <a:ext cx="3233129" cy="49039"/>
            <a:chOff x="0" y="0"/>
            <a:chExt cx="851524" cy="129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1524" cy="12916"/>
            </a:xfrm>
            <a:custGeom>
              <a:avLst/>
              <a:gdLst/>
              <a:ahLst/>
              <a:cxnLst/>
              <a:rect r="r" b="b" t="t" l="l"/>
              <a:pathLst>
                <a:path h="12916" w="851524">
                  <a:moveTo>
                    <a:pt x="0" y="0"/>
                  </a:moveTo>
                  <a:lnTo>
                    <a:pt x="851524" y="0"/>
                  </a:lnTo>
                  <a:lnTo>
                    <a:pt x="851524" y="12916"/>
                  </a:lnTo>
                  <a:lnTo>
                    <a:pt x="0" y="12916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51524" cy="41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4443117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3" y="0"/>
                </a:lnTo>
                <a:lnTo>
                  <a:pt x="9200973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517781" y="269737"/>
            <a:ext cx="8803934" cy="2046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5"/>
              </a:lnSpc>
            </a:pPr>
            <a:r>
              <a:rPr lang="en-US" b="true" sz="12379" spc="-841">
                <a:solidFill>
                  <a:srgbClr val="8B1E1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Comparison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8256" y="2765281"/>
            <a:ext cx="12381375" cy="57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9"/>
              </a:lnSpc>
              <a:spcBef>
                <a:spcPct val="0"/>
              </a:spcBef>
            </a:pPr>
            <a:r>
              <a:rPr lang="en-US" sz="3406" i="true" spc="-170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TF-IDF a</a:t>
            </a:r>
            <a:r>
              <a:rPr lang="en-US" sz="3406" i="true" spc="-170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nd embeddings measure different types of alignment.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8256" y="3431125"/>
            <a:ext cx="10463777" cy="83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5"/>
              </a:lnSpc>
              <a:spcBef>
                <a:spcPct val="0"/>
              </a:spcBef>
            </a:pPr>
            <a:r>
              <a:rPr lang="en-US" b="true" sz="4918" i="true" spc="-98">
                <a:solidFill>
                  <a:srgbClr val="20202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Correlation = 0.279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29631" y="3618915"/>
            <a:ext cx="5993089" cy="48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3"/>
              </a:lnSpc>
              <a:spcBef>
                <a:spcPct val="0"/>
              </a:spcBef>
            </a:pPr>
            <a:r>
              <a:rPr lang="en-US" sz="2816" spc="-56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816" spc="-56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eak positive relationship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59137" y="5106098"/>
            <a:ext cx="7182448" cy="58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6"/>
              </a:lnSpc>
              <a:spcBef>
                <a:spcPct val="0"/>
              </a:spcBef>
            </a:pPr>
            <a:r>
              <a:rPr lang="en-US" b="true" sz="3375" i="true" spc="-67">
                <a:solidFill>
                  <a:srgbClr val="202020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TF - IDF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86430" y="5741500"/>
            <a:ext cx="7055156" cy="56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2"/>
              </a:lnSpc>
              <a:spcBef>
                <a:spcPct val="0"/>
              </a:spcBef>
            </a:pPr>
            <a:r>
              <a:rPr lang="en-US" sz="3316" spc="-66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Lexical overlap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59137" y="6577384"/>
            <a:ext cx="3127656" cy="703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9"/>
              </a:lnSpc>
              <a:spcBef>
                <a:spcPct val="0"/>
              </a:spcBef>
            </a:pPr>
            <a:r>
              <a:rPr lang="en-US" sz="4142" spc="-8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Embeddings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59137" y="7357631"/>
            <a:ext cx="7055156" cy="56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2"/>
              </a:lnSpc>
              <a:spcBef>
                <a:spcPct val="0"/>
              </a:spcBef>
            </a:pPr>
            <a:r>
              <a:rPr lang="en-US" sz="3316" spc="-66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Semantic similarity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58873" y="8307816"/>
            <a:ext cx="6623542" cy="1049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  <a:spcBef>
                <a:spcPct val="0"/>
              </a:spcBef>
            </a:pPr>
            <a:r>
              <a:rPr lang="en-US" sz="3028" i="true" spc="-151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The</a:t>
            </a:r>
            <a:r>
              <a:rPr lang="en-US" sz="3028" i="true" spc="-151">
                <a:solidFill>
                  <a:srgbClr val="20202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methods partly agree, but they do not rank abstracts in the same way.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72870" y="2731599"/>
            <a:ext cx="1011300" cy="980042"/>
          </a:xfrm>
          <a:custGeom>
            <a:avLst/>
            <a:gdLst/>
            <a:ahLst/>
            <a:cxnLst/>
            <a:rect r="r" b="b" t="t" l="l"/>
            <a:pathLst>
              <a:path h="980042" w="1011300">
                <a:moveTo>
                  <a:pt x="0" y="0"/>
                </a:moveTo>
                <a:lnTo>
                  <a:pt x="1011301" y="0"/>
                </a:lnTo>
                <a:lnTo>
                  <a:pt x="1011301" y="980042"/>
                </a:lnTo>
                <a:lnTo>
                  <a:pt x="0" y="98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1555779" y="2533043"/>
            <a:ext cx="6732221" cy="1377154"/>
            <a:chOff x="0" y="0"/>
            <a:chExt cx="1773095" cy="3627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3095" cy="362707"/>
            </a:xfrm>
            <a:custGeom>
              <a:avLst/>
              <a:gdLst/>
              <a:ahLst/>
              <a:cxnLst/>
              <a:rect r="r" b="b" t="t" l="l"/>
              <a:pathLst>
                <a:path h="362707" w="1773095">
                  <a:moveTo>
                    <a:pt x="0" y="0"/>
                  </a:moveTo>
                  <a:lnTo>
                    <a:pt x="1773095" y="0"/>
                  </a:lnTo>
                  <a:lnTo>
                    <a:pt x="1773095" y="362707"/>
                  </a:lnTo>
                  <a:lnTo>
                    <a:pt x="0" y="362707"/>
                  </a:lnTo>
                  <a:close/>
                </a:path>
              </a:pathLst>
            </a:custGeom>
            <a:gradFill rotWithShape="true">
              <a:gsLst>
                <a:gs pos="0">
                  <a:srgbClr val="DDDDDD">
                    <a:alpha val="100000"/>
                  </a:srgbClr>
                </a:gs>
                <a:gs pos="100000">
                  <a:srgbClr val="DDDDD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773095" cy="391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07598" y="5467125"/>
            <a:ext cx="7741845" cy="35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  <a:spcBef>
                <a:spcPct val="0"/>
              </a:spcBef>
            </a:pPr>
            <a:r>
              <a:rPr lang="en-US" b="true" sz="2109" i="true" spc="-42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Lowest embeddi</a:t>
            </a:r>
            <a:r>
              <a:rPr lang="en-US" b="true" sz="2109" i="true" spc="-42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ng alignment papers were mostly about: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4531569"/>
            <a:ext cx="1232632" cy="3957296"/>
            <a:chOff x="0" y="0"/>
            <a:chExt cx="324644" cy="10422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4644" cy="1042251"/>
            </a:xfrm>
            <a:custGeom>
              <a:avLst/>
              <a:gdLst/>
              <a:ahLst/>
              <a:cxnLst/>
              <a:rect r="r" b="b" t="t" l="l"/>
              <a:pathLst>
                <a:path h="1042251" w="324644">
                  <a:moveTo>
                    <a:pt x="0" y="0"/>
                  </a:moveTo>
                  <a:lnTo>
                    <a:pt x="324644" y="0"/>
                  </a:lnTo>
                  <a:lnTo>
                    <a:pt x="324644" y="1042251"/>
                  </a:lnTo>
                  <a:lnTo>
                    <a:pt x="0" y="1042251"/>
                  </a:lnTo>
                  <a:close/>
                </a:path>
              </a:pathLst>
            </a:custGeom>
            <a:gradFill rotWithShape="true">
              <a:gsLst>
                <a:gs pos="0">
                  <a:srgbClr val="DDDDDD">
                    <a:alpha val="100000"/>
                  </a:srgbClr>
                </a:gs>
                <a:gs pos="100000">
                  <a:srgbClr val="DDDDD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24644" cy="1070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24768" y="1024612"/>
            <a:ext cx="407864" cy="407864"/>
          </a:xfrm>
          <a:custGeom>
            <a:avLst/>
            <a:gdLst/>
            <a:ahLst/>
            <a:cxnLst/>
            <a:rect r="r" b="b" t="t" l="l"/>
            <a:pathLst>
              <a:path h="407864" w="407864">
                <a:moveTo>
                  <a:pt x="0" y="0"/>
                </a:moveTo>
                <a:lnTo>
                  <a:pt x="407864" y="0"/>
                </a:lnTo>
                <a:lnTo>
                  <a:pt x="407864" y="407864"/>
                </a:lnTo>
                <a:lnTo>
                  <a:pt x="0" y="407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-595446" y="1926329"/>
            <a:ext cx="19224544" cy="47625"/>
            <a:chOff x="0" y="0"/>
            <a:chExt cx="5063254" cy="125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63255" cy="12543"/>
            </a:xfrm>
            <a:custGeom>
              <a:avLst/>
              <a:gdLst/>
              <a:ahLst/>
              <a:cxnLst/>
              <a:rect r="r" b="b" t="t" l="l"/>
              <a:pathLst>
                <a:path h="12543" w="5063255">
                  <a:moveTo>
                    <a:pt x="0" y="0"/>
                  </a:moveTo>
                  <a:lnTo>
                    <a:pt x="5063255" y="0"/>
                  </a:lnTo>
                  <a:lnTo>
                    <a:pt x="5063255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5063254" cy="4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aphicFrame>
        <p:nvGraphicFramePr>
          <p:cNvPr name="Object 14" id="14"/>
          <p:cNvGraphicFramePr/>
          <p:nvPr/>
        </p:nvGraphicFramePr>
        <p:xfrm>
          <a:off x="11260553" y="5371217"/>
          <a:ext cx="3771900" cy="2514600"/>
        </p:xfrm>
        <a:graphic>
          <a:graphicData uri="http://schemas.openxmlformats.org/presentationml/2006/ole">
            <p:oleObj imgW="4521200" imgH="32639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558139" y="566228"/>
            <a:ext cx="6040764" cy="135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5"/>
              </a:lnSpc>
            </a:pPr>
            <a:r>
              <a:rPr lang="en-US" sz="8237" spc="-724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Outlier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45883" y="566228"/>
            <a:ext cx="4094911" cy="135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5"/>
              </a:lnSpc>
            </a:pPr>
            <a:r>
              <a:rPr lang="en-US" b="true" sz="8237" spc="-560">
                <a:solidFill>
                  <a:srgbClr val="8B1E1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66211" y="1202709"/>
            <a:ext cx="7905473" cy="42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9"/>
              </a:lnSpc>
              <a:spcBef>
                <a:spcPct val="0"/>
              </a:spcBef>
            </a:pPr>
            <a:r>
              <a:rPr lang="en-US" sz="2535" i="true" spc="-126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Low allignment does not automatically mean irrelevant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7598" y="6034896"/>
            <a:ext cx="5662677" cy="1850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109" spc="-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S</a:t>
            </a:r>
            <a:r>
              <a:rPr lang="en-US" sz="2109" spc="-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emismooth Newton methods</a:t>
            </a:r>
          </a:p>
          <a:p>
            <a:pPr algn="l">
              <a:lnSpc>
                <a:spcPts val="2953"/>
              </a:lnSpc>
            </a:pPr>
            <a:r>
              <a:rPr lang="en-US" sz="2109" spc="-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Unlabeled PCA and matrix methods</a:t>
            </a:r>
          </a:p>
          <a:p>
            <a:pPr algn="l">
              <a:lnSpc>
                <a:spcPts val="2953"/>
              </a:lnSpc>
            </a:pPr>
            <a:r>
              <a:rPr lang="en-US" sz="2109" spc="-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Sketching operators</a:t>
            </a:r>
          </a:p>
          <a:p>
            <a:pPr algn="l">
              <a:lnSpc>
                <a:spcPts val="2953"/>
              </a:lnSpc>
            </a:pPr>
            <a:r>
              <a:rPr lang="en-US" sz="2109" spc="-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Linear dynamical systems</a:t>
            </a:r>
          </a:p>
          <a:p>
            <a:pPr algn="l">
              <a:lnSpc>
                <a:spcPts val="2953"/>
              </a:lnSpc>
              <a:spcBef>
                <a:spcPct val="0"/>
              </a:spcBef>
            </a:pPr>
            <a:r>
              <a:rPr lang="en-US" sz="2109" spc="-4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 Nonconvex ADMM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37482" y="2553758"/>
            <a:ext cx="12802594" cy="135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85"/>
              </a:lnSpc>
            </a:pPr>
            <a:r>
              <a:rPr lang="en-US" sz="8237" spc="-560" b="true">
                <a:solidFill>
                  <a:srgbClr val="8B1E1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LOW SCORE ≠ IRRELEV</a:t>
            </a:r>
            <a:r>
              <a:rPr lang="en-US" b="true" sz="8237" spc="-560">
                <a:solidFill>
                  <a:srgbClr val="8B1E1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7055368" y="3425982"/>
            <a:ext cx="1232632" cy="5314776"/>
            <a:chOff x="0" y="0"/>
            <a:chExt cx="324644" cy="1399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4644" cy="1399776"/>
            </a:xfrm>
            <a:custGeom>
              <a:avLst/>
              <a:gdLst/>
              <a:ahLst/>
              <a:cxnLst/>
              <a:rect r="r" b="b" t="t" l="l"/>
              <a:pathLst>
                <a:path h="1399776" w="324644">
                  <a:moveTo>
                    <a:pt x="0" y="0"/>
                  </a:moveTo>
                  <a:lnTo>
                    <a:pt x="324644" y="0"/>
                  </a:lnTo>
                  <a:lnTo>
                    <a:pt x="324644" y="1399776"/>
                  </a:lnTo>
                  <a:lnTo>
                    <a:pt x="0" y="1399776"/>
                  </a:lnTo>
                  <a:close/>
                </a:path>
              </a:pathLst>
            </a:custGeom>
            <a:gradFill rotWithShape="true">
              <a:gsLst>
                <a:gs pos="0">
                  <a:srgbClr val="DDDDDD">
                    <a:alpha val="100000"/>
                  </a:srgbClr>
                </a:gs>
                <a:gs pos="100000">
                  <a:srgbClr val="DDDDD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24644" cy="1428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78393" y="2347575"/>
            <a:ext cx="4672026" cy="128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b="true" sz="7800" i="true" spc="-686">
                <a:solidFill>
                  <a:srgbClr val="20202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Limitations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08330" y="3627200"/>
            <a:ext cx="4802837" cy="128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b="true" sz="7800" i="true" spc="-530">
                <a:solidFill>
                  <a:srgbClr val="8B1E1E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7202" y="3980595"/>
            <a:ext cx="6554276" cy="255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spc="-58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- Aims &amp; Scope is short and general</a:t>
            </a:r>
          </a:p>
          <a:p>
            <a:pPr algn="l">
              <a:lnSpc>
                <a:spcPts val="4060"/>
              </a:lnSpc>
            </a:pPr>
            <a:r>
              <a:rPr lang="en-US" sz="2900" spc="-58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- Dataset contains 80 abstracts</a:t>
            </a:r>
          </a:p>
          <a:p>
            <a:pPr algn="l">
              <a:lnSpc>
                <a:spcPts val="4060"/>
              </a:lnSpc>
            </a:pPr>
            <a:r>
              <a:rPr lang="en-US" sz="2900" spc="-58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- Abstracts are not full papers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spc="-58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- Embeddi</a:t>
            </a:r>
            <a:r>
              <a:rPr lang="en-US" sz="2900" spc="-58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ng model is pretrained, not domain-specific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39928" y="5477289"/>
            <a:ext cx="7348072" cy="30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spc="-57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- Abstracts are useful, but imperfect thematic proxies</a:t>
            </a:r>
          </a:p>
          <a:p>
            <a:pPr algn="l">
              <a:lnSpc>
                <a:spcPts val="4059"/>
              </a:lnSpc>
            </a:pPr>
            <a:r>
              <a:rPr lang="en-US" sz="2899" spc="-57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- TF-IDF underestimates alignment</a:t>
            </a:r>
          </a:p>
          <a:p>
            <a:pPr algn="l">
              <a:lnSpc>
                <a:spcPts val="4059"/>
              </a:lnSpc>
            </a:pPr>
            <a:r>
              <a:rPr lang="en-US" sz="2899" spc="-57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- Embeddings capture broader semantic similarity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spc="-57">
                <a:solidFill>
                  <a:srgbClr val="202020"/>
                </a:solidFill>
                <a:latin typeface="Open Sauce"/>
                <a:ea typeface="Open Sauce"/>
                <a:cs typeface="Open Sauce"/>
                <a:sym typeface="Open Sauce"/>
              </a:rPr>
              <a:t>- Results are exploratory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43553" y="4445063"/>
            <a:ext cx="935905" cy="935905"/>
          </a:xfrm>
          <a:custGeom>
            <a:avLst/>
            <a:gdLst/>
            <a:ahLst/>
            <a:cxnLst/>
            <a:rect r="r" b="b" t="t" l="l"/>
            <a:pathLst>
              <a:path h="935905" w="935905">
                <a:moveTo>
                  <a:pt x="0" y="0"/>
                </a:moveTo>
                <a:lnTo>
                  <a:pt x="935905" y="0"/>
                </a:lnTo>
                <a:lnTo>
                  <a:pt x="935905" y="935905"/>
                </a:lnTo>
                <a:lnTo>
                  <a:pt x="0" y="935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377389" y="5119688"/>
            <a:ext cx="6910611" cy="47625"/>
            <a:chOff x="0" y="0"/>
            <a:chExt cx="1820079" cy="125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0079" cy="12543"/>
            </a:xfrm>
            <a:custGeom>
              <a:avLst/>
              <a:gdLst/>
              <a:ahLst/>
              <a:cxnLst/>
              <a:rect r="r" b="b" t="t" l="l"/>
              <a:pathLst>
                <a:path h="12543" w="1820079">
                  <a:moveTo>
                    <a:pt x="0" y="0"/>
                  </a:moveTo>
                  <a:lnTo>
                    <a:pt x="1820079" y="0"/>
                  </a:lnTo>
                  <a:lnTo>
                    <a:pt x="182007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820079" cy="4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71525" y="3617675"/>
            <a:ext cx="5456010" cy="47625"/>
            <a:chOff x="0" y="0"/>
            <a:chExt cx="1436974" cy="125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36974" cy="12543"/>
            </a:xfrm>
            <a:custGeom>
              <a:avLst/>
              <a:gdLst/>
              <a:ahLst/>
              <a:cxnLst/>
              <a:rect r="r" b="b" t="t" l="l"/>
              <a:pathLst>
                <a:path h="12543" w="1436974">
                  <a:moveTo>
                    <a:pt x="0" y="0"/>
                  </a:moveTo>
                  <a:lnTo>
                    <a:pt x="1436974" y="0"/>
                  </a:lnTo>
                  <a:lnTo>
                    <a:pt x="1436974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8B1E1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36974" cy="4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2395623"/>
            <a:ext cx="1232632" cy="4296477"/>
            <a:chOff x="0" y="0"/>
            <a:chExt cx="324644" cy="11315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4644" cy="1131582"/>
            </a:xfrm>
            <a:custGeom>
              <a:avLst/>
              <a:gdLst/>
              <a:ahLst/>
              <a:cxnLst/>
              <a:rect r="r" b="b" t="t" l="l"/>
              <a:pathLst>
                <a:path h="1131582" w="324644">
                  <a:moveTo>
                    <a:pt x="0" y="0"/>
                  </a:moveTo>
                  <a:lnTo>
                    <a:pt x="324644" y="0"/>
                  </a:lnTo>
                  <a:lnTo>
                    <a:pt x="324644" y="1131582"/>
                  </a:lnTo>
                  <a:lnTo>
                    <a:pt x="0" y="1131582"/>
                  </a:lnTo>
                  <a:close/>
                </a:path>
              </a:pathLst>
            </a:custGeom>
            <a:gradFill rotWithShape="true">
              <a:gsLst>
                <a:gs pos="0">
                  <a:srgbClr val="DDDDDD">
                    <a:alpha val="100000"/>
                  </a:srgbClr>
                </a:gs>
                <a:gs pos="100000">
                  <a:srgbClr val="DDDDDD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24644" cy="1160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DAHLvb24T9I</dc:identifier>
  <dcterms:modified xsi:type="dcterms:W3CDTF">2011-08-01T06:04:30Z</dcterms:modified>
  <cp:revision>1</cp:revision>
  <dc:title>Abstracts</dc:title>
</cp:coreProperties>
</file>